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25"/>
  </p:normalViewPr>
  <p:slideViewPr>
    <p:cSldViewPr snapToGrid="0">
      <p:cViewPr varScale="1">
        <p:scale>
          <a:sx n="136" d="100"/>
          <a:sy n="136" d="100"/>
        </p:scale>
        <p:origin x="216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110AD-E295-521F-AAA6-8146552EB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5E6D4-42AA-AD36-45A4-6C42769847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E11D8-D19B-6488-543E-3A0C8F1CA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8AEA-B591-DA43-9434-564949C6A987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F2C96-1A23-3DEE-D9C0-00329896C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CA5F0-5CEE-27E9-0187-EF73D65CA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D0748-5915-2A41-A946-A21F233EA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219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A95A6-4952-0E4A-04C1-69F3B9906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3AD33-EDCF-6774-1469-DB739DC17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6D748-BBB5-39E9-48DB-0EE270A7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8AEA-B591-DA43-9434-564949C6A987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9A7E7-0528-F252-91A0-B665AC8BB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E8843-EF9B-DB42-BC81-26C2D4A53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D0748-5915-2A41-A946-A21F233EA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644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104EA-4556-0B08-B070-7F6917750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A565E-5103-D010-72EB-67FE77D2F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70A67-8348-04EC-32E6-852143527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8AEA-B591-DA43-9434-564949C6A987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5CA08-F0D3-DD96-D7C6-6F3F48551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400B7-11A0-DC18-AE66-DBB6BCCC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D0748-5915-2A41-A946-A21F233EA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75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B0FD3-48AF-4B5F-3FA7-6DA5BABB2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26ECF-8AEE-51BF-44D6-1392145610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DEE9D4-EE28-EA0E-1EC4-10BFFC45D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6B63C-87F6-6859-27AD-255DAB43A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8AEA-B591-DA43-9434-564949C6A987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3D0A4-5FFC-A736-11DC-04A7DDDED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3596BA-6432-4D69-F4A9-43560F17E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D0748-5915-2A41-A946-A21F233EA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000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3B44-2CBC-E73F-1DC0-5D50B2813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A10A9-E7CA-8D2C-4855-F8E87FA20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0B33F-26A0-1E14-9909-D5E1E5140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9C4EA-52FF-5D77-3C7B-AAEBA1327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A0447F-96C2-9248-3434-5D24F020B9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6F3788-B47F-1B9E-5FF6-D606D218A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8AEA-B591-DA43-9434-564949C6A987}" type="datetimeFigureOut">
              <a:rPr lang="en-US" smtClean="0"/>
              <a:t>2/2/26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C4AE13-8191-F11C-B5F4-3D51D0A24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694C20-A165-CF57-FD9A-00D5EAB55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D0748-5915-2A41-A946-A21F233EA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64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4B6E8-816B-20B3-EE62-8975B8298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40A136-18A6-5B24-75DE-A58754BB0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8AEA-B591-DA43-9434-564949C6A987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871921-66C7-6080-A853-12973E8D6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04D43-6D74-8032-1323-25C04E935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D0748-5915-2A41-A946-A21F233EA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6FA50E-3E18-3E2D-E35F-73881B266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8AEA-B591-DA43-9434-564949C6A987}" type="datetimeFigureOut">
              <a:rPr lang="en-US" smtClean="0"/>
              <a:t>2/2/26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6A51D9-C86E-50E7-E536-EE2D3A976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AB2DF-C5AB-025F-696E-24F9D270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D0748-5915-2A41-A946-A21F233EA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93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0C6C-09B5-8B2B-BF08-D9715C748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99D1E-FD90-47FC-134B-FE5EE2FAF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7DB90E-9953-FB28-6858-CBCA101F88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8776F-8189-A067-D413-8F7FDF3AB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8AEA-B591-DA43-9434-564949C6A987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0D489-35B6-64E9-E426-4E06F1195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74CE5-3E6A-155D-3FED-A1696A103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D0748-5915-2A41-A946-A21F233EA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35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3CA03-DCB0-0E1B-4117-C2DD05957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EB93E1-DC8A-0EE4-193B-0358B39E6D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3B467C-4393-05D7-750C-867D1013B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1C343-F76A-330C-6B9D-6B7C4AED4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8AEA-B591-DA43-9434-564949C6A987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0A42E-651E-06E6-9FEA-D144301EF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C02AC-FC7B-C956-73AA-0E31D06E9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D0748-5915-2A41-A946-A21F233EA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847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24733-6B92-8C23-C422-2CA682135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8A12E-DFB9-1944-376A-8F8D03A4AB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BC077-A5E7-48DE-A750-1FFD7066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8AEA-B591-DA43-9434-564949C6A987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23DCF-F23E-C1EB-07E9-CE79BDC82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4390E-7C43-F2A2-5FD8-3C61EDF3E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D0748-5915-2A41-A946-A21F233EA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5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67BBBA-5A7B-9AEC-5FA8-02CC87FD04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266F5E-9133-A27E-EA4B-FA279DB47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F7093-EAA6-ABDA-21B2-38CE7ACAE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8AEA-B591-DA43-9434-564949C6A987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FE6D7-1D12-ECCD-8039-86C51C8BF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29C7A-2919-C67E-9515-FF0483D91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D0748-5915-2A41-A946-A21F233EA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272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D3B4C3-B3C6-1E7B-E4E1-37CD4CD6C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7471D-1BC6-5848-E1C3-EE96C34B4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77EA-0210-CC85-D0D5-0F4BCE3469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188AEA-B591-DA43-9434-564949C6A987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18DA3-908C-12D6-373E-DE4FA0135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82A8A-6149-4410-433F-8AD2AE904B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D0748-5915-2A41-A946-A21F233EA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457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gthompson/CompSciS26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542FD-D955-EECE-FB28-34C22EF35B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Computational Seismology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21B74-2756-95F4-2BC8-38DE0A804F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Review of Weeks 1-3</a:t>
            </a:r>
          </a:p>
        </p:txBody>
      </p:sp>
    </p:spTree>
    <p:extLst>
      <p:ext uri="{BB962C8B-B14F-4D97-AF65-F5344CB8AC3E}">
        <p14:creationId xmlns:p14="http://schemas.microsoft.com/office/powerpoint/2010/main" val="3751726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7CB7E-AB84-9C1F-3193-6D1C68E26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Computing &amp; Performance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913DB-BADF-12DD-76A2-16A8CA7F4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History of computing → orders-of-magnitude speedups</a:t>
            </a:r>
          </a:p>
          <a:p>
            <a:r>
              <a:rPr lang="en-US" dirty="0"/>
              <a:t>Modern desktops/laptops = </a:t>
            </a:r>
            <a:r>
              <a:rPr lang="en-US" i="1" dirty="0"/>
              <a:t>supercomputers on the desk</a:t>
            </a:r>
            <a:endParaRPr lang="en-US" dirty="0"/>
          </a:p>
          <a:p>
            <a:r>
              <a:rPr lang="en-US" dirty="0"/>
              <a:t>Toolchain setup: </a:t>
            </a:r>
            <a:r>
              <a:rPr lang="en-US" b="1" dirty="0" err="1"/>
              <a:t>Miniconda</a:t>
            </a:r>
            <a:r>
              <a:rPr lang="en-US" b="1" dirty="0"/>
              <a:t>, VS Code, GitHub Desktop</a:t>
            </a:r>
            <a:endParaRPr lang="en-US" dirty="0"/>
          </a:p>
          <a:p>
            <a:r>
              <a:rPr lang="en-US" dirty="0"/>
              <a:t>Linux workflow: ssh, </a:t>
            </a:r>
            <a:r>
              <a:rPr lang="en-US" dirty="0" err="1"/>
              <a:t>scp</a:t>
            </a:r>
            <a:r>
              <a:rPr lang="en-US" dirty="0"/>
              <a:t>, compiling &amp; running code</a:t>
            </a:r>
          </a:p>
          <a:p>
            <a:r>
              <a:rPr lang="en-US" dirty="0"/>
              <a:t>Performance comparison:</a:t>
            </a:r>
          </a:p>
          <a:p>
            <a:pPr lvl="1"/>
            <a:r>
              <a:rPr lang="en-US" dirty="0"/>
              <a:t>C / Fortran vs Python</a:t>
            </a:r>
          </a:p>
          <a:p>
            <a:pPr lvl="1"/>
            <a:r>
              <a:rPr lang="en-US" dirty="0"/>
              <a:t>Python loops vs NumPy vectorization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137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D957E-50DD-90F5-A62D-2984CAAFA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Seismic Instrumentation &amp;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C14C1-1ABD-7C4C-9C8A-6A4662F5B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History of seismic instruments &amp; digitizers</a:t>
            </a:r>
          </a:p>
          <a:p>
            <a:r>
              <a:rPr lang="en-US" dirty="0"/>
              <a:t>Real station demo:</a:t>
            </a:r>
          </a:p>
          <a:p>
            <a:pPr lvl="1"/>
            <a:r>
              <a:rPr lang="en-US" b="1" dirty="0"/>
              <a:t>Trillium seismometer + Centaur digitizer</a:t>
            </a:r>
            <a:endParaRPr lang="en-US" dirty="0"/>
          </a:p>
          <a:p>
            <a:pPr lvl="1"/>
            <a:r>
              <a:rPr lang="en-US" dirty="0"/>
              <a:t>Seismic + infrasound</a:t>
            </a:r>
          </a:p>
          <a:p>
            <a:r>
              <a:rPr lang="en-US" dirty="0"/>
              <a:t>Analog → digital conversion</a:t>
            </a:r>
          </a:p>
          <a:p>
            <a:r>
              <a:rPr lang="en-US" dirty="0"/>
              <a:t>Filters:</a:t>
            </a:r>
          </a:p>
          <a:p>
            <a:pPr lvl="1"/>
            <a:r>
              <a:rPr lang="en-US" dirty="0"/>
              <a:t>causal vs acausal</a:t>
            </a:r>
          </a:p>
          <a:p>
            <a:pPr lvl="1"/>
            <a:r>
              <a:rPr lang="en-US" dirty="0"/>
              <a:t>effect on P-wave onsets</a:t>
            </a:r>
          </a:p>
          <a:p>
            <a:pPr lvl="1"/>
            <a:r>
              <a:rPr lang="en-US" dirty="0"/>
              <a:t>filter order and ringing</a:t>
            </a:r>
          </a:p>
        </p:txBody>
      </p:sp>
    </p:spTree>
    <p:extLst>
      <p:ext uri="{BB962C8B-B14F-4D97-AF65-F5344CB8AC3E}">
        <p14:creationId xmlns:p14="http://schemas.microsoft.com/office/powerpoint/2010/main" val="35733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5952B-F05B-398A-7645-1AAEF5208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&amp; DSP Foundations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34149-B3EC-485B-D61D-072F20884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knowledge check (diagnostic, not graded)</a:t>
            </a:r>
          </a:p>
          <a:p>
            <a:r>
              <a:rPr lang="en-US" dirty="0"/>
              <a:t>Python crash course (core syntax)</a:t>
            </a:r>
          </a:p>
          <a:p>
            <a:r>
              <a:rPr lang="en-US" dirty="0"/>
              <a:t>Intro to Digital Signal Processing:</a:t>
            </a:r>
          </a:p>
          <a:p>
            <a:pPr lvl="1"/>
            <a:r>
              <a:rPr lang="en-US" dirty="0"/>
              <a:t>convolution</a:t>
            </a:r>
          </a:p>
          <a:p>
            <a:pPr lvl="1"/>
            <a:r>
              <a:rPr lang="en-US" dirty="0"/>
              <a:t>impulse response</a:t>
            </a:r>
          </a:p>
          <a:p>
            <a:pPr lvl="1"/>
            <a:r>
              <a:rPr lang="en-US" dirty="0"/>
              <a:t>why filtering smears arrivals</a:t>
            </a:r>
          </a:p>
          <a:p>
            <a:r>
              <a:rPr lang="en-US" dirty="0"/>
              <a:t>First steps toward seismic processing workflows</a:t>
            </a:r>
          </a:p>
        </p:txBody>
      </p:sp>
    </p:spTree>
    <p:extLst>
      <p:ext uri="{BB962C8B-B14F-4D97-AF65-F5344CB8AC3E}">
        <p14:creationId xmlns:p14="http://schemas.microsoft.com/office/powerpoint/2010/main" val="38405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3E146-A5B3-8D44-4DE1-3CC1AB861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takeaway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A0442-516A-2D37-4A8B-F0D7BE584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Modern seismology is a computational pipeline — from sensor → bits → signal processing → interpretation.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255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D17A6-53E6-58B8-A007-D9D09C68A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8EAFE-D3ED-1AFE-1644-BFFC34E195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Computational Seismology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8859E7-E233-7096-71E2-782FA426E0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Where are we going next?</a:t>
            </a:r>
          </a:p>
        </p:txBody>
      </p:sp>
    </p:spTree>
    <p:extLst>
      <p:ext uri="{BB962C8B-B14F-4D97-AF65-F5344CB8AC3E}">
        <p14:creationId xmlns:p14="http://schemas.microsoft.com/office/powerpoint/2010/main" val="4276764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CCCDE-DC4B-BF3E-F902-D26E88CC0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to interactive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B9803-AFD4-2BE1-2E7E-31B1287A2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</a:t>
            </a:r>
            <a:r>
              <a:rPr lang="en-US" i="1" dirty="0"/>
              <a:t>watching &amp; listening</a:t>
            </a:r>
            <a:r>
              <a:rPr lang="en-US" dirty="0"/>
              <a:t> → </a:t>
            </a:r>
            <a:r>
              <a:rPr lang="en-US" b="1" dirty="0"/>
              <a:t>doing</a:t>
            </a:r>
            <a:endParaRPr lang="en-US" dirty="0"/>
          </a:p>
          <a:p>
            <a:r>
              <a:rPr lang="en-US" dirty="0"/>
              <a:t>Students working in class on their own laptops</a:t>
            </a:r>
          </a:p>
          <a:p>
            <a:r>
              <a:rPr lang="en-US" dirty="0"/>
              <a:t>Real tools, real data, reproducible workflows</a:t>
            </a:r>
          </a:p>
        </p:txBody>
      </p:sp>
    </p:spTree>
    <p:extLst>
      <p:ext uri="{BB962C8B-B14F-4D97-AF65-F5344CB8AC3E}">
        <p14:creationId xmlns:p14="http://schemas.microsoft.com/office/powerpoint/2010/main" val="3623417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9F872-8563-F303-2E79-AF2E9EC0E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Computational tools (used every week from now 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0C304-DE70-6FD5-BC00-C729E42F4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Miniconda</a:t>
            </a:r>
            <a:r>
              <a:rPr lang="en-US" dirty="0"/>
              <a:t> – managing scientific Python environments</a:t>
            </a:r>
          </a:p>
          <a:p>
            <a:r>
              <a:rPr lang="en-US" b="1" dirty="0"/>
              <a:t>VS Code</a:t>
            </a:r>
            <a:r>
              <a:rPr lang="en-US" dirty="0"/>
              <a:t> – notebooks, scripts, debugging</a:t>
            </a:r>
          </a:p>
          <a:p>
            <a:r>
              <a:rPr lang="en-US" b="1" dirty="0"/>
              <a:t>GitHub Desktop</a:t>
            </a:r>
            <a:r>
              <a:rPr lang="en-US" dirty="0"/>
              <a:t> – version control &amp; reproducibility</a:t>
            </a:r>
          </a:p>
          <a:p>
            <a:r>
              <a:rPr lang="en-US" b="1" dirty="0"/>
              <a:t>NumPy, Matplotlib, Pandas</a:t>
            </a:r>
            <a:r>
              <a:rPr lang="en-US" dirty="0"/>
              <a:t> – numerical analysis, plotting, data handling</a:t>
            </a:r>
          </a:p>
          <a:p>
            <a:r>
              <a:rPr lang="en-US" b="1" dirty="0" err="1"/>
              <a:t>ObsPy</a:t>
            </a:r>
            <a:r>
              <a:rPr lang="en-US" b="1" dirty="0"/>
              <a:t> 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3089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63BBC-2159-6295-EF60-069E187A9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ObsPy</a:t>
            </a:r>
            <a:r>
              <a:rPr lang="en-US" b="1" dirty="0"/>
              <a:t>: the seismic data pipeline backbone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F54A5-328C-6D84-7251-E5F06BCBE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Reading and visualizing waveform data</a:t>
            </a:r>
          </a:p>
          <a:p>
            <a:r>
              <a:rPr lang="en-US" dirty="0"/>
              <a:t>Understanding Stream and Trace objects</a:t>
            </a:r>
          </a:p>
          <a:p>
            <a:r>
              <a:rPr lang="en-US" dirty="0"/>
              <a:t>Working with metadata (stations, channels, timing)</a:t>
            </a:r>
          </a:p>
          <a:p>
            <a:r>
              <a:rPr lang="en-US" dirty="0"/>
              <a:t>Building intuition for how seismic data are structured</a:t>
            </a:r>
          </a:p>
        </p:txBody>
      </p:sp>
    </p:spTree>
    <p:extLst>
      <p:ext uri="{BB962C8B-B14F-4D97-AF65-F5344CB8AC3E}">
        <p14:creationId xmlns:p14="http://schemas.microsoft.com/office/powerpoint/2010/main" val="3402786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07701-C3C5-5B8B-BEA8-0F59AB58F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Signal processing that matters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B66AC-EC86-6479-30E7-191D7CD2F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Convolution &amp; correlation</a:t>
            </a:r>
          </a:p>
          <a:p>
            <a:r>
              <a:rPr lang="en-US" dirty="0"/>
              <a:t>Time vs frequency domain (DFT)</a:t>
            </a:r>
          </a:p>
          <a:p>
            <a:r>
              <a:rPr lang="en-US" dirty="0"/>
              <a:t>Filters, poles &amp; zeros</a:t>
            </a:r>
          </a:p>
          <a:p>
            <a:r>
              <a:rPr lang="en-US" dirty="0"/>
              <a:t>Instrument response and when/why it must be removed</a:t>
            </a:r>
          </a:p>
        </p:txBody>
      </p:sp>
    </p:spTree>
    <p:extLst>
      <p:ext uri="{BB962C8B-B14F-4D97-AF65-F5344CB8AC3E}">
        <p14:creationId xmlns:p14="http://schemas.microsoft.com/office/powerpoint/2010/main" val="3888854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F1247-4115-E95A-0BF8-9CB0F1645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From instruments to physical units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F9704-9058-52E6-FE44-8389E2D69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Seismometer + digitizer response</a:t>
            </a:r>
          </a:p>
          <a:p>
            <a:r>
              <a:rPr lang="en-US" dirty="0" err="1"/>
              <a:t>StationXML</a:t>
            </a:r>
            <a:r>
              <a:rPr lang="en-US" dirty="0"/>
              <a:t> metadata</a:t>
            </a:r>
          </a:p>
          <a:p>
            <a:r>
              <a:rPr lang="en-US" dirty="0"/>
              <a:t>Pre-processing pipeline:</a:t>
            </a:r>
          </a:p>
          <a:p>
            <a:r>
              <a:rPr lang="en-US" dirty="0"/>
              <a:t>detrend, taper, filter</a:t>
            </a:r>
          </a:p>
          <a:p>
            <a:r>
              <a:rPr lang="en-US" dirty="0"/>
              <a:t>deconvolve instrument response</a:t>
            </a:r>
          </a:p>
          <a:p>
            <a:r>
              <a:rPr lang="en-US" dirty="0"/>
              <a:t>change units (counts → ground motion)</a:t>
            </a:r>
          </a:p>
        </p:txBody>
      </p:sp>
    </p:spTree>
    <p:extLst>
      <p:ext uri="{BB962C8B-B14F-4D97-AF65-F5344CB8AC3E}">
        <p14:creationId xmlns:p14="http://schemas.microsoft.com/office/powerpoint/2010/main" val="2932836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42800-66F4-B68A-21BB-2B3895355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this fits the course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69BE8-144A-6828-4515-1E8D16CFB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skills form the </a:t>
            </a:r>
            <a:r>
              <a:rPr lang="en-US" b="1" dirty="0"/>
              <a:t>cornerstone</a:t>
            </a:r>
            <a:r>
              <a:rPr lang="en-US" dirty="0"/>
              <a:t> for everything that follows:</a:t>
            </a:r>
          </a:p>
          <a:p>
            <a:pPr lvl="1"/>
            <a:r>
              <a:rPr lang="en-US" dirty="0"/>
              <a:t>event detection (STA/LTA)</a:t>
            </a:r>
          </a:p>
          <a:p>
            <a:pPr lvl="1"/>
            <a:r>
              <a:rPr lang="en-US" dirty="0"/>
              <a:t>phase picking</a:t>
            </a:r>
          </a:p>
          <a:p>
            <a:pPr lvl="1"/>
            <a:r>
              <a:rPr lang="en-US" dirty="0"/>
              <a:t>hypocenter location</a:t>
            </a:r>
          </a:p>
          <a:p>
            <a:pPr lvl="1"/>
            <a:r>
              <a:rPr lang="en-US" dirty="0"/>
              <a:t>analysis of continuous waveform data</a:t>
            </a:r>
          </a:p>
          <a:p>
            <a:pPr lvl="1"/>
            <a:r>
              <a:rPr lang="en-US" dirty="0"/>
              <a:t>building processing pipelines</a:t>
            </a:r>
          </a:p>
          <a:p>
            <a:pPr lvl="1"/>
            <a:r>
              <a:rPr lang="en-US" dirty="0"/>
              <a:t>automation</a:t>
            </a:r>
          </a:p>
          <a:p>
            <a:pPr lvl="1"/>
            <a:r>
              <a:rPr lang="en-US" dirty="0"/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764247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25C40-DACA-A7C4-A77E-1D3947A9C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types of seismic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729BD-9A46-84D5-51B9-7ADBCFD58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Waveform data</a:t>
            </a:r>
          </a:p>
          <a:p>
            <a:pPr lvl="1"/>
            <a:r>
              <a:rPr lang="en-US" dirty="0"/>
              <a:t>SEED id (</a:t>
            </a:r>
            <a:r>
              <a:rPr lang="en-US" dirty="0" err="1"/>
              <a:t>net.sta.loc.chan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Start and end time</a:t>
            </a:r>
          </a:p>
          <a:p>
            <a:pPr lvl="1"/>
            <a:r>
              <a:rPr lang="en-US" dirty="0"/>
              <a:t>Sampling rate</a:t>
            </a:r>
          </a:p>
          <a:p>
            <a:pPr lvl="1"/>
            <a:r>
              <a:rPr lang="en-US" dirty="0"/>
              <a:t>Timeseries vector</a:t>
            </a:r>
          </a:p>
          <a:p>
            <a:r>
              <a:rPr lang="en-US" dirty="0"/>
              <a:t>Event metadata (catalogs)</a:t>
            </a:r>
          </a:p>
          <a:p>
            <a:pPr lvl="1"/>
            <a:r>
              <a:rPr lang="en-US" dirty="0"/>
              <a:t>Classification</a:t>
            </a:r>
          </a:p>
          <a:p>
            <a:pPr lvl="1"/>
            <a:r>
              <a:rPr lang="en-US" dirty="0"/>
              <a:t>Arrivals (phase picks)</a:t>
            </a:r>
          </a:p>
          <a:p>
            <a:pPr lvl="1"/>
            <a:r>
              <a:rPr lang="en-US" dirty="0"/>
              <a:t>Origin(s): time, coordinates</a:t>
            </a:r>
          </a:p>
          <a:p>
            <a:pPr lvl="1"/>
            <a:r>
              <a:rPr lang="en-US" dirty="0"/>
              <a:t>Quantification: amplitudes, magnitudes (station, network)</a:t>
            </a:r>
          </a:p>
          <a:p>
            <a:r>
              <a:rPr lang="en-US" dirty="0"/>
              <a:t>Station metadata</a:t>
            </a:r>
          </a:p>
          <a:p>
            <a:pPr lvl="1"/>
            <a:r>
              <a:rPr lang="en-US" dirty="0"/>
              <a:t>Name</a:t>
            </a:r>
          </a:p>
          <a:p>
            <a:pPr lvl="1"/>
            <a:r>
              <a:rPr lang="en-US" dirty="0"/>
              <a:t>SEED id (</a:t>
            </a:r>
            <a:r>
              <a:rPr lang="en-US" dirty="0" err="1"/>
              <a:t>net.sta.loc.chan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Coordinates</a:t>
            </a:r>
          </a:p>
          <a:p>
            <a:pPr lvl="1"/>
            <a:r>
              <a:rPr lang="en-US" dirty="0"/>
              <a:t>Instrumentation</a:t>
            </a:r>
          </a:p>
          <a:p>
            <a:pPr lvl="1"/>
            <a:r>
              <a:rPr lang="en-US" dirty="0"/>
              <a:t>Instrument responses</a:t>
            </a:r>
          </a:p>
          <a:p>
            <a:pPr lvl="1"/>
            <a:r>
              <a:rPr lang="en-US" dirty="0"/>
              <a:t>Operation date windows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34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81B84-62A6-F055-EBBF-2B67F3B40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328" y="365125"/>
            <a:ext cx="10816472" cy="1325563"/>
          </a:xfrm>
        </p:spPr>
        <p:txBody>
          <a:bodyPr/>
          <a:lstStyle/>
          <a:p>
            <a:r>
              <a:rPr lang="en-US" dirty="0"/>
              <a:t>Database schema: CSS3.0 (Antelope) minimal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A7DDC-39C1-DA0C-38A3-F953DE6A8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6245" y="6135242"/>
            <a:ext cx="6732309" cy="1325563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 err="1"/>
              <a:t>wfdisc</a:t>
            </a:r>
            <a:r>
              <a:rPr lang="en-US" sz="1400" dirty="0"/>
              <a:t>: one row per </a:t>
            </a:r>
            <a:r>
              <a:rPr lang="en-US" sz="1400" dirty="0" err="1"/>
              <a:t>miniseed</a:t>
            </a:r>
            <a:r>
              <a:rPr lang="en-US" sz="1400" dirty="0"/>
              <a:t> or sac file on disk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655CAA-3909-ACD8-0828-26020E130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0050"/>
            <a:ext cx="7772400" cy="46051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A7662B-79AA-BCBE-F978-FA8B67035294}"/>
              </a:ext>
            </a:extLst>
          </p:cNvPr>
          <p:cNvSpPr txBox="1"/>
          <p:nvPr/>
        </p:nvSpPr>
        <p:spPr>
          <a:xfrm>
            <a:off x="7843101" y="1875935"/>
            <a:ext cx="28846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event can have: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Multiple origins</a:t>
            </a:r>
          </a:p>
          <a:p>
            <a:r>
              <a:rPr lang="en-US" dirty="0"/>
              <a:t>Which can have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Multiple magnitudes</a:t>
            </a:r>
          </a:p>
          <a:p>
            <a:r>
              <a:rPr lang="en-US" dirty="0"/>
              <a:t>Need a preferred origin and magnitude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1E867E-DAC3-FC77-423F-4FA2CDC99B29}"/>
              </a:ext>
            </a:extLst>
          </p:cNvPr>
          <p:cNvSpPr txBox="1"/>
          <p:nvPr/>
        </p:nvSpPr>
        <p:spPr>
          <a:xfrm>
            <a:off x="8220173" y="4072379"/>
            <a:ext cx="328995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AQMS (Earthworm) and </a:t>
            </a:r>
            <a:r>
              <a:rPr lang="en-US" sz="2800" dirty="0" err="1">
                <a:solidFill>
                  <a:srgbClr val="FF0000"/>
                </a:solidFill>
              </a:rPr>
              <a:t>SeisComP</a:t>
            </a:r>
            <a:r>
              <a:rPr lang="en-US" sz="2800" dirty="0">
                <a:solidFill>
                  <a:srgbClr val="FF0000"/>
                </a:solidFill>
              </a:rPr>
              <a:t> use similar database schema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C914A8-934A-0FDF-9415-8AEE95DF9875}"/>
              </a:ext>
            </a:extLst>
          </p:cNvPr>
          <p:cNvSpPr txBox="1"/>
          <p:nvPr/>
        </p:nvSpPr>
        <p:spPr>
          <a:xfrm>
            <a:off x="999242" y="1277130"/>
            <a:ext cx="637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This is an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Entity-Relationship Diagram: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data model</a:t>
            </a:r>
          </a:p>
        </p:txBody>
      </p:sp>
    </p:spTree>
    <p:extLst>
      <p:ext uri="{BB962C8B-B14F-4D97-AF65-F5344CB8AC3E}">
        <p14:creationId xmlns:p14="http://schemas.microsoft.com/office/powerpoint/2010/main" val="3169186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0CA7-BFCB-EC41-1250-0E6D841AF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data interchange formats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6599C-B3A2-0FAA-AACF-E2367D486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Waveform data: </a:t>
            </a:r>
            <a:r>
              <a:rPr lang="en-US" dirty="0" err="1"/>
              <a:t>MiniSEED</a:t>
            </a:r>
            <a:endParaRPr lang="en-US" dirty="0"/>
          </a:p>
          <a:p>
            <a:pPr lvl="1"/>
            <a:r>
              <a:rPr lang="en-US" dirty="0"/>
              <a:t>Best organized as daily files per SEED id in an SDS archive</a:t>
            </a:r>
          </a:p>
          <a:p>
            <a:r>
              <a:rPr lang="en-US" dirty="0"/>
              <a:t>Event metadata: </a:t>
            </a:r>
            <a:r>
              <a:rPr lang="en-US" dirty="0" err="1"/>
              <a:t>QuakeML</a:t>
            </a:r>
            <a:endParaRPr lang="en-US" dirty="0"/>
          </a:p>
          <a:p>
            <a:r>
              <a:rPr lang="en-US" dirty="0"/>
              <a:t>Station metadata: </a:t>
            </a:r>
            <a:r>
              <a:rPr lang="en-US" dirty="0" err="1"/>
              <a:t>StationXML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Work with these formats! You will find more tools available.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SEED files combine </a:t>
            </a:r>
            <a:r>
              <a:rPr lang="en-US" dirty="0" err="1"/>
              <a:t>MiniSEED</a:t>
            </a:r>
            <a:r>
              <a:rPr lang="en-US" dirty="0"/>
              <a:t> and </a:t>
            </a:r>
            <a:r>
              <a:rPr lang="en-US" dirty="0" err="1"/>
              <a:t>dataless</a:t>
            </a:r>
            <a:r>
              <a:rPr lang="en-US" dirty="0"/>
              <a:t> SEED (an older way to store station metadata).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985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58E90-FA2C-2324-A5C7-E71D2F6A8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ObsPy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570DA-4A43-E6E3-D388-DE83E72AC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Waveform data: </a:t>
            </a:r>
          </a:p>
          <a:p>
            <a:pPr lvl="1"/>
            <a:r>
              <a:rPr lang="en-US" dirty="0"/>
              <a:t>Trace: one object per SEED id, per time window</a:t>
            </a:r>
          </a:p>
          <a:p>
            <a:pPr lvl="2"/>
            <a:r>
              <a:rPr lang="en-US" dirty="0"/>
              <a:t>Timeseries vector stored as a </a:t>
            </a:r>
            <a:r>
              <a:rPr lang="en-US" dirty="0" err="1"/>
              <a:t>numpy</a:t>
            </a:r>
            <a:r>
              <a:rPr lang="en-US" dirty="0"/>
              <a:t> array</a:t>
            </a:r>
          </a:p>
          <a:p>
            <a:pPr lvl="1"/>
            <a:r>
              <a:rPr lang="en-US" dirty="0"/>
              <a:t>Stream: container object for multiple Trace objects</a:t>
            </a:r>
          </a:p>
          <a:p>
            <a:r>
              <a:rPr lang="en-US" dirty="0"/>
              <a:t>Event metadata: </a:t>
            </a:r>
          </a:p>
          <a:p>
            <a:pPr lvl="1"/>
            <a:r>
              <a:rPr lang="en-US" dirty="0"/>
              <a:t>Event: one object per event</a:t>
            </a:r>
          </a:p>
          <a:p>
            <a:pPr lvl="1"/>
            <a:r>
              <a:rPr lang="en-US" dirty="0"/>
              <a:t>Catalog: container object for multiple Event objects</a:t>
            </a:r>
          </a:p>
          <a:p>
            <a:r>
              <a:rPr lang="en-US" dirty="0"/>
              <a:t>Station metadata:</a:t>
            </a:r>
          </a:p>
          <a:p>
            <a:pPr lvl="1"/>
            <a:r>
              <a:rPr lang="en-US" dirty="0"/>
              <a:t>Inventory: </a:t>
            </a:r>
            <a:r>
              <a:rPr lang="en-US" dirty="0" err="1"/>
              <a:t>Hierachy</a:t>
            </a:r>
            <a:r>
              <a:rPr lang="en-US" dirty="0"/>
              <a:t> of metadata</a:t>
            </a:r>
          </a:p>
          <a:p>
            <a:pPr lvl="2"/>
            <a:r>
              <a:rPr lang="en-US" dirty="0"/>
              <a:t>Network</a:t>
            </a:r>
          </a:p>
          <a:p>
            <a:pPr lvl="3"/>
            <a:r>
              <a:rPr lang="en-US" dirty="0"/>
              <a:t>Station</a:t>
            </a:r>
          </a:p>
          <a:p>
            <a:pPr lvl="4"/>
            <a:r>
              <a:rPr lang="en-US" dirty="0"/>
              <a:t>Channel (&amp; Location)</a:t>
            </a:r>
          </a:p>
          <a:p>
            <a:pPr lvl="5"/>
            <a:r>
              <a:rPr lang="en-US" dirty="0"/>
              <a:t>Response</a:t>
            </a:r>
          </a:p>
          <a:p>
            <a:pPr lvl="5"/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Object-oriented data model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designed around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MiniSEED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QuakeML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 and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StationXML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02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2627D-3BC0-39CF-FE86-91430581D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Programming (OOP)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ED3E0-6EE0-19E5-168A-C4870CC87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58200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Python has </a:t>
            </a:r>
            <a:r>
              <a:rPr lang="en-US" dirty="0" err="1"/>
              <a:t>builtin</a:t>
            </a:r>
            <a:r>
              <a:rPr lang="en-US" dirty="0"/>
              <a:t> data types</a:t>
            </a:r>
          </a:p>
          <a:p>
            <a:pPr lvl="1"/>
            <a:r>
              <a:rPr lang="en-US" dirty="0"/>
              <a:t>Scalars: int, float, bool, str</a:t>
            </a:r>
          </a:p>
          <a:p>
            <a:pPr lvl="1"/>
            <a:r>
              <a:rPr lang="en-US" dirty="0"/>
              <a:t>Containers: tuple, list, set, </a:t>
            </a:r>
            <a:r>
              <a:rPr lang="en-US" dirty="0" err="1"/>
              <a:t>dict</a:t>
            </a:r>
            <a:endParaRPr lang="en-US" dirty="0"/>
          </a:p>
          <a:p>
            <a:r>
              <a:rPr lang="en-US" dirty="0"/>
              <a:t>These are </a:t>
            </a:r>
            <a:r>
              <a:rPr lang="en-US" b="1" dirty="0"/>
              <a:t>classes</a:t>
            </a:r>
            <a:r>
              <a:rPr lang="en-US" dirty="0"/>
              <a:t> that define:</a:t>
            </a:r>
          </a:p>
          <a:p>
            <a:pPr lvl="1"/>
            <a:r>
              <a:rPr lang="en-US" dirty="0"/>
              <a:t>Properties</a:t>
            </a:r>
          </a:p>
          <a:p>
            <a:pPr lvl="1"/>
            <a:r>
              <a:rPr lang="en-US" dirty="0"/>
              <a:t>Methods: functions that are “internal” to that data type, e.g.</a:t>
            </a:r>
          </a:p>
          <a:p>
            <a:pPr lvl="2"/>
            <a:r>
              <a:rPr lang="en-US" dirty="0"/>
              <a:t>int: add(), subtract(), multiply(), divide()</a:t>
            </a:r>
          </a:p>
          <a:p>
            <a:pPr lvl="2"/>
            <a:r>
              <a:rPr lang="en-US" dirty="0"/>
              <a:t>str: append(), lower(), …</a:t>
            </a:r>
          </a:p>
          <a:p>
            <a:r>
              <a:rPr lang="en-US" dirty="0"/>
              <a:t>Any instance of a class is an </a:t>
            </a:r>
            <a:r>
              <a:rPr lang="en-US" b="1" dirty="0"/>
              <a:t>object</a:t>
            </a:r>
          </a:p>
          <a:p>
            <a:r>
              <a:rPr lang="en-US" dirty="0"/>
              <a:t>You can make your own classes, to represent new data types. Examples:</a:t>
            </a:r>
          </a:p>
          <a:p>
            <a:pPr lvl="1"/>
            <a:r>
              <a:rPr lang="en-US" dirty="0" err="1"/>
              <a:t>numpy</a:t>
            </a:r>
            <a:r>
              <a:rPr lang="en-US" dirty="0"/>
              <a:t> array</a:t>
            </a:r>
          </a:p>
          <a:p>
            <a:pPr lvl="1"/>
            <a:r>
              <a:rPr lang="en-US" dirty="0"/>
              <a:t>Pandas </a:t>
            </a:r>
            <a:r>
              <a:rPr lang="en-US" dirty="0" err="1"/>
              <a:t>DataFrame</a:t>
            </a:r>
            <a:endParaRPr lang="en-US" dirty="0"/>
          </a:p>
          <a:p>
            <a:pPr lvl="1"/>
            <a:r>
              <a:rPr lang="en-US" dirty="0" err="1"/>
              <a:t>ObsPy</a:t>
            </a:r>
            <a:r>
              <a:rPr lang="en-US" dirty="0"/>
              <a:t>: Trace, Stream, Event, Catalog, Inventory, Response</a:t>
            </a:r>
          </a:p>
          <a:p>
            <a:r>
              <a:rPr lang="en-US" b="1" dirty="0"/>
              <a:t>Variables</a:t>
            </a:r>
            <a:r>
              <a:rPr lang="en-US" dirty="0"/>
              <a:t> are names that point to objects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B06E06-54A8-4DE5-A624-212AF46CC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00" y="1690688"/>
            <a:ext cx="289560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83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4BF5A-8EF5-1737-1790-C1DC85776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setup our computers for </a:t>
            </a:r>
            <a:r>
              <a:rPr lang="en-US" dirty="0" err="1"/>
              <a:t>ObsPy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0BFD5-C2EC-47AD-6BB0-AECE831B2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In your web browser, open the URL </a:t>
            </a:r>
            <a:r>
              <a:rPr lang="en-US" sz="2000" dirty="0">
                <a:hlinkClick r:id="rId2"/>
              </a:rPr>
              <a:t>https://github.com/gthompson/CompSciS26</a:t>
            </a:r>
            <a:endParaRPr lang="en-US" sz="2000" dirty="0"/>
          </a:p>
          <a:p>
            <a:r>
              <a:rPr lang="en-US" sz="2000" dirty="0"/>
              <a:t>Click on the Green “Code” tab then “Open with GitHub Desktop”</a:t>
            </a:r>
          </a:p>
          <a:p>
            <a:r>
              <a:rPr lang="en-US" sz="2000" dirty="0"/>
              <a:t>Hit the blue “Clone” button within GitHub Desktop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F7214A-4F3F-5CCA-EF76-A0A8397FA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183" y="3065940"/>
            <a:ext cx="7772400" cy="331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478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EBC7B-8471-67BE-50B3-D2F98A167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the </a:t>
            </a:r>
            <a:r>
              <a:rPr lang="en-US" dirty="0" err="1"/>
              <a:t>conda</a:t>
            </a:r>
            <a:r>
              <a:rPr lang="en-US" dirty="0"/>
              <a:t> environment “</a:t>
            </a:r>
            <a:r>
              <a:rPr lang="en-US" dirty="0" err="1"/>
              <a:t>compsci</a:t>
            </a:r>
            <a:r>
              <a:rPr lang="en-US" dirty="0"/>
              <a:t>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F736-5D8E-E33B-59B4-52B20BAD2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200" dirty="0"/>
              <a:t>Open a bash (or </a:t>
            </a:r>
            <a:r>
              <a:rPr lang="en-US" sz="2200" dirty="0" err="1"/>
              <a:t>zsh</a:t>
            </a:r>
            <a:r>
              <a:rPr lang="en-US" sz="2200" dirty="0"/>
              <a:t>) terminal</a:t>
            </a:r>
          </a:p>
          <a:p>
            <a:r>
              <a:rPr lang="en-US" sz="2200" dirty="0"/>
              <a:t>Change directory to your repository:</a:t>
            </a:r>
          </a:p>
          <a:p>
            <a:pPr marL="457200" lvl="1" indent="0">
              <a:buNone/>
            </a:pPr>
            <a:r>
              <a:rPr lang="en-US" sz="2200" dirty="0"/>
              <a:t>cd ~/Documents/GitHub/CompSciS26</a:t>
            </a:r>
          </a:p>
          <a:p>
            <a:r>
              <a:rPr lang="en-US" sz="2200" dirty="0"/>
              <a:t>List the contents of the </a:t>
            </a:r>
            <a:r>
              <a:rPr lang="en-US" sz="2200" dirty="0" err="1"/>
              <a:t>environment.yml</a:t>
            </a:r>
            <a:r>
              <a:rPr lang="en-US" sz="2200" dirty="0"/>
              <a:t> file:</a:t>
            </a:r>
          </a:p>
          <a:p>
            <a:pPr marL="457200" lvl="1" indent="0">
              <a:buNone/>
            </a:pPr>
            <a:r>
              <a:rPr lang="en-US" sz="2200" dirty="0"/>
              <a:t>cat </a:t>
            </a:r>
            <a:r>
              <a:rPr lang="en-US" sz="2200" dirty="0" err="1"/>
              <a:t>environment.yml</a:t>
            </a:r>
            <a:r>
              <a:rPr lang="en-US" sz="2200" dirty="0"/>
              <a:t> </a:t>
            </a:r>
          </a:p>
          <a:p>
            <a:r>
              <a:rPr lang="en-US" sz="2200" dirty="0"/>
              <a:t>Create the </a:t>
            </a:r>
            <a:r>
              <a:rPr lang="en-US" sz="2200" dirty="0" err="1"/>
              <a:t>conda</a:t>
            </a:r>
            <a:r>
              <a:rPr lang="en-US" sz="2200" dirty="0"/>
              <a:t> environment:</a:t>
            </a:r>
          </a:p>
          <a:p>
            <a:pPr marL="457200" lvl="1" indent="0">
              <a:buNone/>
            </a:pPr>
            <a:r>
              <a:rPr lang="en-US" sz="2200" dirty="0" err="1"/>
              <a:t>conda</a:t>
            </a:r>
            <a:r>
              <a:rPr lang="en-US" sz="2200" dirty="0"/>
              <a:t> env create –f </a:t>
            </a:r>
            <a:r>
              <a:rPr lang="en-US" sz="2200" dirty="0" err="1"/>
              <a:t>environment.yml</a:t>
            </a:r>
            <a:endParaRPr lang="en-US" sz="2200" dirty="0"/>
          </a:p>
          <a:p>
            <a:r>
              <a:rPr lang="en-US" sz="2200" dirty="0"/>
              <a:t>Activate the environment:</a:t>
            </a:r>
          </a:p>
          <a:p>
            <a:pPr marL="457200" lvl="1" indent="0">
              <a:buNone/>
            </a:pPr>
            <a:r>
              <a:rPr lang="en-US" sz="2200" dirty="0" err="1"/>
              <a:t>conda</a:t>
            </a:r>
            <a:r>
              <a:rPr lang="en-US" sz="2200" dirty="0"/>
              <a:t> activate </a:t>
            </a:r>
            <a:r>
              <a:rPr lang="en-US" sz="2200" dirty="0" err="1"/>
              <a:t>compsci</a:t>
            </a:r>
            <a:endParaRPr lang="en-US" sz="2200" dirty="0"/>
          </a:p>
          <a:p>
            <a:r>
              <a:rPr lang="en-US" sz="2200" dirty="0"/>
              <a:t>Check:</a:t>
            </a:r>
          </a:p>
          <a:p>
            <a:pPr marL="457200" lvl="1" indent="0">
              <a:buNone/>
            </a:pPr>
            <a:r>
              <a:rPr lang="en-US" sz="2200" dirty="0"/>
              <a:t>python -c "import </a:t>
            </a:r>
            <a:r>
              <a:rPr lang="en-US" sz="2200" dirty="0" err="1"/>
              <a:t>obspy</a:t>
            </a:r>
            <a:r>
              <a:rPr lang="en-US" sz="2200" dirty="0"/>
              <a:t>; print(</a:t>
            </a:r>
            <a:r>
              <a:rPr lang="en-US" sz="2200" dirty="0" err="1"/>
              <a:t>obspy</a:t>
            </a:r>
            <a:r>
              <a:rPr lang="en-US" sz="2200" dirty="0"/>
              <a:t>.__version__)”</a:t>
            </a:r>
          </a:p>
          <a:p>
            <a:pPr marL="0" indent="0">
              <a:buNone/>
            </a:pPr>
            <a:r>
              <a:rPr lang="en-US" sz="2200" dirty="0"/>
              <a:t>This should return “1.4.2”. If it doesn’t, let me know!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6CD369-FDBA-6136-AD81-F9DDAC4818A2}"/>
              </a:ext>
            </a:extLst>
          </p:cNvPr>
          <p:cNvSpPr txBox="1"/>
          <p:nvPr/>
        </p:nvSpPr>
        <p:spPr>
          <a:xfrm>
            <a:off x="7513163" y="2551837"/>
            <a:ext cx="384063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No matter what computer architecture or operating system and version you are on, 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this gives us all a common “environment” to use for this course.</a:t>
            </a:r>
          </a:p>
        </p:txBody>
      </p:sp>
    </p:spTree>
    <p:extLst>
      <p:ext uri="{BB962C8B-B14F-4D97-AF65-F5344CB8AC3E}">
        <p14:creationId xmlns:p14="http://schemas.microsoft.com/office/powerpoint/2010/main" val="2107841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142DE-AFB0-7CAE-42B1-4F3858875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872" y="365125"/>
            <a:ext cx="10515600" cy="4351338"/>
          </a:xfrm>
        </p:spPr>
        <p:txBody>
          <a:bodyPr/>
          <a:lstStyle/>
          <a:p>
            <a:r>
              <a:rPr lang="en-US" dirty="0"/>
              <a:t>Open Visual Studio Code from GitHub Desktop</a:t>
            </a:r>
          </a:p>
          <a:p>
            <a:pPr lvl="1"/>
            <a:r>
              <a:rPr lang="en-US" dirty="0"/>
              <a:t>Top menu -&gt; Repository -&gt; Open in Visual Studio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0B89D4-184F-48FF-AFC4-9E8988BBD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371" y="1272746"/>
            <a:ext cx="3975671" cy="558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992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1B7CA-4209-8E22-49CE-F31A1485D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249" y="49644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Open the Folder “mess2024”</a:t>
            </a:r>
          </a:p>
          <a:p>
            <a:r>
              <a:rPr lang="en-US" dirty="0"/>
              <a:t>Open “00_Python_Crash_Course.ipynb”</a:t>
            </a:r>
          </a:p>
          <a:p>
            <a:r>
              <a:rPr lang="en-US" dirty="0"/>
              <a:t>Click “Run All”</a:t>
            </a:r>
          </a:p>
          <a:p>
            <a:r>
              <a:rPr lang="en-US" dirty="0"/>
              <a:t>Click “Python Environments”</a:t>
            </a:r>
          </a:p>
          <a:p>
            <a:r>
              <a:rPr lang="en-US" dirty="0"/>
              <a:t>Select “</a:t>
            </a:r>
            <a:r>
              <a:rPr lang="en-US" dirty="0" err="1"/>
              <a:t>compsci</a:t>
            </a:r>
            <a:r>
              <a:rPr lang="en-US" dirty="0"/>
              <a:t> (Python 3.11.14)”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200" dirty="0"/>
              <a:t>You can also select the Python environment through the “View”=&gt;”Command </a:t>
            </a:r>
            <a:r>
              <a:rPr lang="en-US" sz="2200" dirty="0" err="1"/>
              <a:t>Pallette</a:t>
            </a:r>
            <a:r>
              <a:rPr lang="en-US" sz="2200" dirty="0"/>
              <a:t>…” top menu items.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Later we will use the same approach to work through the 9 </a:t>
            </a:r>
            <a:r>
              <a:rPr lang="en-US" sz="2000" dirty="0" err="1"/>
              <a:t>ObsPy</a:t>
            </a:r>
            <a:r>
              <a:rPr lang="en-US" sz="2000" dirty="0"/>
              <a:t> notebooks.</a:t>
            </a:r>
          </a:p>
        </p:txBody>
      </p:sp>
    </p:spTree>
    <p:extLst>
      <p:ext uri="{BB962C8B-B14F-4D97-AF65-F5344CB8AC3E}">
        <p14:creationId xmlns:p14="http://schemas.microsoft.com/office/powerpoint/2010/main" val="1044131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997</Words>
  <Application>Microsoft Macintosh PowerPoint</Application>
  <PresentationFormat>Widescreen</PresentationFormat>
  <Paragraphs>166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Computational Seismology</vt:lpstr>
      <vt:lpstr>Computing &amp; Performance</vt:lpstr>
      <vt:lpstr>Seismic Instrumentation &amp; Data</vt:lpstr>
      <vt:lpstr>Python &amp; DSP Foundations</vt:lpstr>
      <vt:lpstr>Key takeaway</vt:lpstr>
      <vt:lpstr>Computational Seismology</vt:lpstr>
      <vt:lpstr>Shift to interactive classes</vt:lpstr>
      <vt:lpstr>Computational tools (used every week from now on)</vt:lpstr>
      <vt:lpstr>ObsPy: the seismic data pipeline backbone</vt:lpstr>
      <vt:lpstr>Signal processing that matters</vt:lpstr>
      <vt:lpstr>From instruments to physical units</vt:lpstr>
      <vt:lpstr>How this fits the course</vt:lpstr>
      <vt:lpstr>Three types of seismic data</vt:lpstr>
      <vt:lpstr>Database schema: CSS3.0 (Antelope) minimal</vt:lpstr>
      <vt:lpstr>Modern data interchange formats </vt:lpstr>
      <vt:lpstr>ObsPy</vt:lpstr>
      <vt:lpstr>Object-oriented Programming (OOP)</vt:lpstr>
      <vt:lpstr>Let’s setup our computers for ObsPy</vt:lpstr>
      <vt:lpstr>Create the conda environment “compsci”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Glenn Thompson</dc:creator>
  <cp:lastModifiedBy>Glenn Thompson</cp:lastModifiedBy>
  <cp:revision>4</cp:revision>
  <dcterms:created xsi:type="dcterms:W3CDTF">2026-02-02T16:04:20Z</dcterms:created>
  <dcterms:modified xsi:type="dcterms:W3CDTF">2026-02-02T18:02:00Z</dcterms:modified>
</cp:coreProperties>
</file>